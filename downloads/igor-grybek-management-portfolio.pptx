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10fe3e7b644d4" /><Relationship Type="http://schemas.openxmlformats.org/officeDocument/2006/relationships/extended-properties" Target="/docProps/app.xml" Id="R3a212a1767d3483a" /><Relationship Type="http://schemas.openxmlformats.org/officeDocument/2006/relationships/officeDocument" Target="/ppt/presentation.xml" Id="Rc2c5de62233d4a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9a1d517e1498c"/>
  </p:sldMasterIdLst>
  <p:notesMasterIdLst>
    <p:notesMasterId xmlns:r="http://schemas.openxmlformats.org/officeDocument/2006/relationships" r:id="R0f1a062e0cd3494b"/>
  </p:notesMasterIdLst>
  <p:sldIdLst>
    <p:sldId xmlns:r="http://schemas.openxmlformats.org/officeDocument/2006/relationships" id="256" r:id="R3dbf7d0084034aea"/>
    <p:sldId xmlns:r="http://schemas.openxmlformats.org/officeDocument/2006/relationships" id="257" r:id="Rc1e9660ec36b49fd"/>
    <p:sldId xmlns:r="http://schemas.openxmlformats.org/officeDocument/2006/relationships" id="258" r:id="R5b9c77665eff4a59"/>
    <p:sldId xmlns:r="http://schemas.openxmlformats.org/officeDocument/2006/relationships" id="259" r:id="Rb6d71c0046d94597"/>
    <p:sldId xmlns:r="http://schemas.openxmlformats.org/officeDocument/2006/relationships" id="260" r:id="R4bfaf58cb92b4b3b"/>
    <p:sldId xmlns:r="http://schemas.openxmlformats.org/officeDocument/2006/relationships" id="261" r:id="Rf826339e333b4049"/>
    <p:sldId xmlns:r="http://schemas.openxmlformats.org/officeDocument/2006/relationships" id="262" r:id="Rc68283dc321c45f5"/>
    <p:sldId xmlns:r="http://schemas.openxmlformats.org/officeDocument/2006/relationships" id="263" r:id="Rdbe54007e89b437f"/>
    <p:sldId xmlns:r="http://schemas.openxmlformats.org/officeDocument/2006/relationships" id="264" r:id="R483bbdda2fef4872"/>
    <p:sldId xmlns:r="http://schemas.openxmlformats.org/officeDocument/2006/relationships" id="265" r:id="Rf2d7e61e92824517"/>
    <p:sldId xmlns:r="http://schemas.openxmlformats.org/officeDocument/2006/relationships" id="266" r:id="R3ce3746432cf42b2"/>
    <p:sldId xmlns:r="http://schemas.openxmlformats.org/officeDocument/2006/relationships" id="267" r:id="Rdbd97b86657e44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81f4bec2ce427d" /><Relationship Type="http://schemas.openxmlformats.org/officeDocument/2006/relationships/slideMaster" Target="/ppt/slideMasters/slideMaster1.xml" Id="R0659a1d517e1498c" /><Relationship Type="http://schemas.openxmlformats.org/officeDocument/2006/relationships/notesMaster" Target="/ppt/notesMasters/notesMaster1.xml" Id="R0f1a062e0cd3494b" /><Relationship Type="http://schemas.openxmlformats.org/officeDocument/2006/relationships/presProps" Target="/ppt/presProps.xml" Id="R209fb893caf54c5e" /><Relationship Type="http://schemas.openxmlformats.org/officeDocument/2006/relationships/tableStyles" Target="/ppt/tableStyles.xml" Id="R8e0185eb18cd43b3" /><Relationship Type="http://schemas.openxmlformats.org/officeDocument/2006/relationships/slide" Target="/ppt/slides/slide1.xml" Id="R3dbf7d0084034aea" /><Relationship Type="http://schemas.openxmlformats.org/officeDocument/2006/relationships/slide" Target="/ppt/slides/slide2.xml" Id="Rc1e9660ec36b49fd" /><Relationship Type="http://schemas.openxmlformats.org/officeDocument/2006/relationships/slide" Target="/ppt/slides/slide3.xml" Id="R5b9c77665eff4a59" /><Relationship Type="http://schemas.openxmlformats.org/officeDocument/2006/relationships/slide" Target="/ppt/slides/slide4.xml" Id="Rb6d71c0046d94597" /><Relationship Type="http://schemas.openxmlformats.org/officeDocument/2006/relationships/slide" Target="/ppt/slides/slide5.xml" Id="R4bfaf58cb92b4b3b" /><Relationship Type="http://schemas.openxmlformats.org/officeDocument/2006/relationships/slide" Target="/ppt/slides/slide6.xml" Id="Rf826339e333b4049" /><Relationship Type="http://schemas.openxmlformats.org/officeDocument/2006/relationships/slide" Target="/ppt/slides/slide7.xml" Id="Rc68283dc321c45f5" /><Relationship Type="http://schemas.openxmlformats.org/officeDocument/2006/relationships/slide" Target="/ppt/slides/slide8.xml" Id="Rdbe54007e89b437f" /><Relationship Type="http://schemas.openxmlformats.org/officeDocument/2006/relationships/slide" Target="/ppt/slides/slide9.xml" Id="R483bbdda2fef4872" /><Relationship Type="http://schemas.openxmlformats.org/officeDocument/2006/relationships/slide" Target="/ppt/slides/slide10.xml" Id="Rf2d7e61e92824517" /><Relationship Type="http://schemas.openxmlformats.org/officeDocument/2006/relationships/slide" Target="/ppt/slides/slide11.xml" Id="R3ce3746432cf42b2" /><Relationship Type="http://schemas.openxmlformats.org/officeDocument/2006/relationships/slide" Target="/ppt/slides/slide12.xml" Id="Rdbd97b86657e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1354595297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ad190758144815" /><Relationship Type="http://schemas.openxmlformats.org/officeDocument/2006/relationships/notesMaster" Target="/ppt/notesMasters/notesMaster1.xml" Id="Rbcbd9d40e58b4f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5a76d657494014" /><Relationship Type="http://schemas.openxmlformats.org/officeDocument/2006/relationships/notesMaster" Target="/ppt/notesMasters/notesMaster1.xml" Id="Rb47f9063d8c043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8f0cdd68e9418b" /><Relationship Type="http://schemas.openxmlformats.org/officeDocument/2006/relationships/notesMaster" Target="/ppt/notesMasters/notesMaster1.xml" Id="R339f7030850a48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7be066befe4506" /><Relationship Type="http://schemas.openxmlformats.org/officeDocument/2006/relationships/notesMaster" Target="/ppt/notesMasters/notesMaster1.xml" Id="Rfccf8fc52ffc4b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026cc4b3184507" /><Relationship Type="http://schemas.openxmlformats.org/officeDocument/2006/relationships/notesMaster" Target="/ppt/notesMasters/notesMaster1.xml" Id="R1ff9f4cc560943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4806a0211f47fe" /><Relationship Type="http://schemas.openxmlformats.org/officeDocument/2006/relationships/notesMaster" Target="/ppt/notesMasters/notesMaster1.xml" Id="Rc0f5277d591d4a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d0b5db36614973" /><Relationship Type="http://schemas.openxmlformats.org/officeDocument/2006/relationships/notesMaster" Target="/ppt/notesMasters/notesMaster1.xml" Id="R54dcc23b174e40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d1137821f546b4" /><Relationship Type="http://schemas.openxmlformats.org/officeDocument/2006/relationships/notesMaster" Target="/ppt/notesMasters/notesMaster1.xml" Id="R5ac79000ef8a4a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b98b6a7cba421a" /><Relationship Type="http://schemas.openxmlformats.org/officeDocument/2006/relationships/notesMaster" Target="/ppt/notesMasters/notesMaster1.xml" Id="R19f342a3efb84c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3a9433a0d54a04" /><Relationship Type="http://schemas.openxmlformats.org/officeDocument/2006/relationships/notesMaster" Target="/ppt/notesMasters/notesMaster1.xml" Id="R8f84b1c3faf24f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5d0935f3664f2b" /><Relationship Type="http://schemas.openxmlformats.org/officeDocument/2006/relationships/notesMaster" Target="/ppt/notesMasters/notesMaster1.xml" Id="Re71267510e824e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b7e71a4ef04b2f" /><Relationship Type="http://schemas.openxmlformats.org/officeDocument/2006/relationships/notesMaster" Target="/ppt/notesMasters/notesMaster1.xml" Id="R8d2d7b639381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>4. Outputs/portfolio/release-20261026/content/profile-master.md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Private review edition · 26 October 2026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Career descriptions are user-attested. Organizational scope is not presented as personal investment performance.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>4. Outputs/portfolio/release-20261026/content/profile-master.md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Breadth is retained. Each proposed reinforcement must justify its integration cost against a simpler alternative.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Design studies with bounded local model checks; not five deployed software businesses.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Outputs/portfolio/release-20261026/content/arctervix-overview.md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Synthetic assumptions. Annual timing can hide intra-year shortfalls; no economic superiority or deployment is established.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Outputs/portfolio/release-20261026/content/edna-overview.md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Tiny curated test set. Citation coverage is distinct from original-source truth and generalization.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Outputs/portfolio/release-20261026/content/hobbly-overview.md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Simulated payments; no live provider integration, fraud prevention or regulatory-compliance claim.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Outputs/portfolio/release-20261026/content/arxis-overview.md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Traceability is not engineering correctness or building-law compliance.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Outputs/portfolio/release-20261026/content/arxa-overview.md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The act/defer calculation compares costs; it is not a real-option price or empirical proof of savings.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>4. Outputs/portfolio/release-20261026/content/profile-master.md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Counts overlap: not 500 independent credentials. Exam preparation is not exam certification; completion is not independent execution.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>4. Outputs/portfolio/release-20261026/content/profile-master.md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A conditional result is not an observed outcome. Documentation, checking, implementation and operation remain distinct.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draft; not approved for external sharing.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4. Outputs/portfolio/release-20261026/content/master-portfolio-report.md</a:t>
            </a:r>
          </a:p>
          <a:p xmlns:a="http://schemas.openxmlformats.org/drawingml/2006/main">
            <a:r>
              <a:t>4. Outputs/portfolio/release-20261026/content/profile-master.md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 boundary: Private drafts only. Missing inputs remain explicit; publication, applications and capital commitments require separate decisions.</a:t>
            </a:r>
          </a:p>
          <a:p xmlns:a="http://schemas.openxmlformats.org/drawingml/2006/main">
            <a:r>
              <a:t>Current AI-assisted portfolio documentation and bounded model checks are not retroactively attributed as independent historical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eee4a047247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81966f13545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5f040c3354a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a6691a4da47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7f10cfa124d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54d4c575b041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93B86C-6375-43E9-8ADC-FEB58BBA5D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C1833A-A627-4D43-9519-F693727277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BDAE50-6887-4BDA-BEC9-212FE4C68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44F0FD-488D-4039-9490-F0895FEED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482C40-6BD0-4B1D-9A21-F50622FE02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3CC3BB-6799-4E65-83D3-5D5FE919C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23F402-82A7-475C-BE81-0D0B25EFD7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DE6184-6203-4FCD-BDC0-06634EE18E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0F1A7-32A4-4326-ACB6-583B35AEE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616B5C-373E-4036-87CD-43B29F3C48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fde04898df4dbc" /><Relationship Type="http://schemas.openxmlformats.org/officeDocument/2006/relationships/slideLayout" Target="/ppt/slideLayouts/slideLayout1.xml" Id="R93477c023d5040ee" /><Relationship Type="http://schemas.openxmlformats.org/officeDocument/2006/relationships/slideLayout" Target="/ppt/slideLayouts/slideLayout2.xml" Id="R9882f0080b3b41d3" /><Relationship Type="http://schemas.openxmlformats.org/officeDocument/2006/relationships/slideLayout" Target="/ppt/slideLayouts/slideLayout3.xml" Id="Rdd34148e75cf4c1a" /><Relationship Type="http://schemas.openxmlformats.org/officeDocument/2006/relationships/slideLayout" Target="/ppt/slideLayouts/slideLayout4.xml" Id="R3c325a8092964249" /><Relationship Type="http://schemas.openxmlformats.org/officeDocument/2006/relationships/slideLayout" Target="/ppt/slideLayouts/slideLayout5.xml" Id="Rbfc42e25717e41ae" /><Relationship Type="http://schemas.openxmlformats.org/officeDocument/2006/relationships/slideLayout" Target="/ppt/slideLayouts/slideLayout6.xml" Id="Rf60ea3f6e878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477c023d5040ee"/>
    <p:sldLayoutId xmlns:r="http://schemas.openxmlformats.org/officeDocument/2006/relationships" id="2147483650" r:id="R9882f0080b3b41d3"/>
    <p:sldLayoutId xmlns:r="http://schemas.openxmlformats.org/officeDocument/2006/relationships" id="2147483651" r:id="Rdd34148e75cf4c1a"/>
    <p:sldLayoutId xmlns:r="http://schemas.openxmlformats.org/officeDocument/2006/relationships" id="2147483652" r:id="R3c325a8092964249"/>
    <p:sldLayoutId xmlns:r="http://schemas.openxmlformats.org/officeDocument/2006/relationships" id="2147483653" r:id="Rbfc42e25717e41ae"/>
    <p:sldLayoutId xmlns:r="http://schemas.openxmlformats.org/officeDocument/2006/relationships" id="2147483654" r:id="Rf60ea3f6e878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e76fa1ff24c32" /><Relationship Type="http://schemas.openxmlformats.org/officeDocument/2006/relationships/notesSlide" Target="/ppt/notesSlides/notesSlide1.xml" Id="Rfdbb855a0d87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45f962287467f" /><Relationship Type="http://schemas.openxmlformats.org/officeDocument/2006/relationships/notesSlide" Target="/ppt/notesSlides/notesSlide2.xml" Id="R45b1a775c6b745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b179a8fcc48ea" /><Relationship Type="http://schemas.openxmlformats.org/officeDocument/2006/relationships/notesSlide" Target="/ppt/notesSlides/notesSlide3.xml" Id="R83a05649e6b942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acafd87044248" /><Relationship Type="http://schemas.openxmlformats.org/officeDocument/2006/relationships/notesSlide" Target="/ppt/notesSlides/notesSlide4.xml" Id="Rda317fea1a4548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56b9753914735" /><Relationship Type="http://schemas.openxmlformats.org/officeDocument/2006/relationships/notesSlide" Target="/ppt/notesSlides/notesSlide5.xml" Id="Re8d31860eda04b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fafdbcd2243e3" /><Relationship Type="http://schemas.openxmlformats.org/officeDocument/2006/relationships/notesSlide" Target="/ppt/notesSlides/notesSlide6.xml" Id="R145b7aca3ed74e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c0b33af55477c" /><Relationship Type="http://schemas.openxmlformats.org/officeDocument/2006/relationships/notesSlide" Target="/ppt/notesSlides/notesSlide7.xml" Id="Rc19ee18acb5741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39553f32a4dc7" /><Relationship Type="http://schemas.openxmlformats.org/officeDocument/2006/relationships/notesSlide" Target="/ppt/notesSlides/notesSlide8.xml" Id="R18a138c4ffbc4c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420729cf094169" /><Relationship Type="http://schemas.openxmlformats.org/officeDocument/2006/relationships/notesSlide" Target="/ppt/notesSlides/notesSlide9.xml" Id="R4b56e4fd15c24c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5b09df5bc4504" /><Relationship Type="http://schemas.openxmlformats.org/officeDocument/2006/relationships/notesSlide" Target="/ppt/notesSlides/notesSlide10.xml" Id="Rc70e68b74acb48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6a703b9799420c" /><Relationship Type="http://schemas.openxmlformats.org/officeDocument/2006/relationships/notesSlide" Target="/ppt/notesSlides/notesSlide11.xml" Id="Ra4d20b7793f14b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a6db3ba0a4e9f" /><Relationship Type="http://schemas.openxmlformats.org/officeDocument/2006/relationships/notesSlide" Target="/ppt/notesSlides/notesSlide12.xml" Id="R9aef119c30274d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3C3DA1-FC8E-4587-B9CD-92C836A3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01</a:t>
            </a:r>
          </a:p>
        </p:txBody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D880C56-1899-43BE-B9B4-C5F17140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Igor Grybek | Management portfolio</a:t>
            </a:r>
          </a:p>
        </p:txBody>
      </p:sp>
      <p:sp>
        <p:nvSpPr>
          <p:cNvPr id="3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4368AE22-686B-43DA-8DC8-9AA7E36C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Capital, operations</a:t>
            </a:r>
          </a:p>
          <a:p xmlns:a="http://schemas.openxmlformats.org/drawingml/2006/main">
            <a:pPr>
              <a:defRPr sz="450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and technology</a:t>
            </a:r>
          </a:p>
        </p:txBody>
      </p:sp>
      <p:sp>
        <p:nvSpPr>
          <p:cNvPr id="4" name="cover-body">
            <a:extLst xmlns:a="http://schemas.openxmlformats.org/drawingml/2006/main">
              <a:ext uri="{FF2B5EF4-FFF2-40B4-BE49-F238E27FC236}">
                <a16:creationId xmlns:a16="http://schemas.microsoft.com/office/drawing/2014/main" id="{454356C2-4532-4F76-A406-FA280A79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Connecting investment reasoning, product design and operating decisions across five complementary studies.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324D689F-D118-4873-B865-705577F2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Private review edition · 26 October 2026</a:t>
            </a:r>
          </a:p>
        </p:txBody>
      </p:sp>
    </p:spTree>
    <p:extLst>
      <p:ext uri="{BB962C8B-B14F-4D97-AF65-F5344CB8AC3E}">
        <p14:creationId xmlns:p14="http://schemas.microsoft.com/office/powerpoint/2010/main" val="936634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0F979B-B1B9-467B-B520-7635A4F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02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710824C7-0430-40B0-ABFF-CB220538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 career foundation across capital and technology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77B92-9825-4946-AD88-289FDC72264F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BNP Paribas CIB · 2025–present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Private-capital operations: cash, reconciliation, ownership documents and reporting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Arxa Group / project portfolio · 2023–2025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Research, product definition, financial models and investor engagement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Santander CIB · 2022–2023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Corporate banking internship: financial modeling, market and risk analysis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SDG/DGC · 2021–2022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Infrastructure and renewable-energy research, diligence and project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060B636B-AD42-49F7-9C12-3FBEBD1A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Career descriptions are user-attested. Organizational scope is not presented as personal investment performance.</a:t>
            </a:r>
          </a:p>
        </p:txBody>
      </p:sp>
    </p:spTree>
    <p:extLst>
      <p:ext uri="{BB962C8B-B14F-4D97-AF65-F5344CB8AC3E}">
        <p14:creationId xmlns:p14="http://schemas.microsoft.com/office/powerpoint/2010/main" val="547707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2DA35D7-7DF3-455B-9FBF-A86D5623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03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53437B21-86EE-4859-89D5-278A1210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Management connects the disciplines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82C29-5AA2-41C0-9DE2-9314B44598A7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Perspective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Contribution to the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Capital and finance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Cash timing, financing structure, value and funding feasibility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Quantitative risk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Baselines, scenarios, uncertainty and constraints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Product and technology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Use cases, data contracts, integrations and implementation choices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Operating 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Responsibilities, handoffs, exceptions and revision triggers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FEDAEBCF-A7C3-408B-A1D9-A64FEB67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Breadth is retained. Each proposed reinforcement must justify its integration cost against a simpler alternative.</a:t>
            </a:r>
          </a:p>
        </p:txBody>
      </p:sp>
    </p:spTree>
    <p:extLst>
      <p:ext uri="{BB962C8B-B14F-4D97-AF65-F5344CB8AC3E}">
        <p14:creationId xmlns:p14="http://schemas.microsoft.com/office/powerpoint/2010/main" val="127801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100AF4D-5E84-4BF8-9DC5-D40F40B1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04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2A99D223-E41F-4132-98C0-B0888A1C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Five studies, five complementary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E2092-5FE6-45B9-9D6E-5ABEA1A13ADA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606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Project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lens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Arctervix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Can a valuable investment be financed through its next stage?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EDNA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Can research retain source support as information changes?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Hobbly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Can transaction exceptions be handled economically?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ARXIS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Can a project change remain traceable and reviewable?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ARXA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Does a prediction improve a feasible operating action?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707E0F34-A865-4C78-9849-9A39E10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Design studies with bounded local model checks; not five deployed software businesses.</a:t>
            </a:r>
          </a:p>
        </p:txBody>
      </p:sp>
    </p:spTree>
    <p:extLst>
      <p:ext uri="{BB962C8B-B14F-4D97-AF65-F5344CB8AC3E}">
        <p14:creationId xmlns:p14="http://schemas.microsoft.com/office/powerpoint/2010/main" val="293347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CA0D1124-1257-45E6-8B59-B6C17A64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05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FC91DC38-806E-4D7F-8596-ACC3DD69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Arctervix | Value is not funding feasibility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5011A5E9-0A42-4B90-A0D1-155039A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Capital allocation under liquidity and financing constraints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CA88F803-CB4B-4ED7-A035-77EC2EF3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OPERATING QUESTION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0D18FD23-E04B-47D2-AA16-F214C8D4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CHECKED RESULT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0E7734AA-055C-4FDC-8621-712C87C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Compare investment, staging and financing choices while preserving cash-flow timing and decision ownership.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47C436E7-9F09-485A-A0ED-5ECD6121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85 synthetic scenarios and 13 repository tests show how financing and maturity alter feasible fixed schedules.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440852F3-53EC-4310-A029-2DD810BD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Next decision: scope a real mandate, validate its cash assumptions and test the binding financing constraint.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B1A7CB7C-4207-4BCD-B06B-21B5C031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Synthetic assumptions. Annual timing can hide intra-year shortfalls; no economic superiority or deployment is established.</a:t>
            </a:r>
          </a:p>
        </p:txBody>
      </p:sp>
    </p:spTree>
    <p:extLst>
      <p:ext uri="{BB962C8B-B14F-4D97-AF65-F5344CB8AC3E}">
        <p14:creationId xmlns:p14="http://schemas.microsoft.com/office/powerpoint/2010/main" val="2107670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88CBDF6B-D67A-41A6-A60C-F51AA2A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06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90D79C81-94C9-4251-8794-4463BCA5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EDNA | Retrieval is not evidence validation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C2A70662-2B83-4254-A8CC-5E9407EE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Governed research and knowledge reuse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2739623F-39A3-4673-81B7-F1A9932E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OPERATING QUESTION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8C2F3E5E-D2B1-4C69-90B9-DE47EE31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CHECKED RESULT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BD555013-BE3B-4FA3-88B6-D70A3B26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Preserve source, version, access and correction history through retrieval, review and reuse.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2061331C-8FE6-4018-B284-9184000C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Both tested modes reach 80% hit@1 on five authored questions. Nine tests cover selected failure cases; ranking improvement is not established.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C9B66522-D779-4EBE-9DA3-78E724E6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Next decision: evaluate source support and the cost of human review on a representative approved corpus.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2AA487A1-5305-4505-9DD4-7642C121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Tiny curated test set. Citation coverage is distinct from original-source truth and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950037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D3760024-FDAB-4684-B435-3833C025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07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4C00E1B8-AE12-4039-8507-61A42D63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Hobbly | Exceptions shape the service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EF0E1AB7-3AD0-468D-802C-3BB434B9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Booking operations and transaction economics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D4211B37-C05F-4C16-AF76-E007C0C2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OPERATING QUESTION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FD66DA8-59DD-44C5-96DA-F307ACA1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CHECKED RESULT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E691A018-F28C-4D23-AB87-0E320543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Make capacity, payment, cancellation and reconciliation states agree, with explicit ownership of exceptions.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84874B7B-8E5D-4126-AD80-A96F6766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Eight tests cover selected transaction states. Synthetic contribution moves from €2 to −€0.50 per booking as support cost rises.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975E828C-9673-46F5-97CA-C6CD5778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Next decision: validate support workload and exception costs before committing to a service model.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2BAE028A-3DAC-4C2C-8BEC-31FBC54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Simulated payments; no live provider integration, fraud prevention or regulatory-compliance claim.</a:t>
            </a:r>
          </a:p>
        </p:txBody>
      </p:sp>
    </p:spTree>
    <p:extLst>
      <p:ext uri="{BB962C8B-B14F-4D97-AF65-F5344CB8AC3E}">
        <p14:creationId xmlns:p14="http://schemas.microsoft.com/office/powerpoint/2010/main" val="1462638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54589E7D-7FF0-45C0-9CF2-300EB03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08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C69AA16A-ACAA-4D27-A37C-875E3FF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ARXIS | Traceability does not grant approval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11E884E-AC25-4546-B9AE-9EF85C81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Controlled documentation and project change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720DE90F-FF20-4AA6-AA35-622B479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OPERATING QUESTION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65480828-6CFD-47A7-9A84-74696FD0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CHECKED RESULT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37D0F883-D4A1-4111-BFEA-D3A0835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Connect requirements, decisions, versions and deliverables so reviewers can identify the impact of a change.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DC645113-54F1-46A6-BB2E-D8910C2B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Seven tests check decision-to-artifact obligations and version/actor controls. A matching version permits human review, not automatic approval.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CF0B2307-46EA-40AD-AAD0-F48A07E5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Next decision: define review authority and test completeness on a representative documentation package.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71949F4D-03FC-4656-962A-2EBCAB6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Traceability is not engineering correctness or building-law compliance.</a:t>
            </a:r>
          </a:p>
        </p:txBody>
      </p:sp>
    </p:spTree>
    <p:extLst>
      <p:ext uri="{BB962C8B-B14F-4D97-AF65-F5344CB8AC3E}">
        <p14:creationId xmlns:p14="http://schemas.microsoft.com/office/powerpoint/2010/main" val="1082983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615BDEDF-A352-4193-8CF9-E09B257F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09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A0B72895-4784-4AF4-AA3F-56A213C9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ARXA | Prediction must support an action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C52F944-BE69-47AA-BEEF-1E02ECC4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Data-enabled operational transformation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FDCD20AA-A1FE-43F1-9A2A-6730FA34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OPERATING QUESTION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8262EDF-64D4-4552-993C-357184D5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CHECKED RESULT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5E772A40-CCD5-4C83-93A1-FF06579A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Connect prediction quality to intervention capacity, investment choices and operating economics.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6D36AC26-3B66-41CA-AB7A-80520AEE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Eight tests and 12 efficacy/capacity scenarios show that intervention assumptions can reverse a favorable cost comparison.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B7B2E7A3-C4BF-46C1-B0E4-759C1C2B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Next decision: test intervention effectiveness, capacity and data quality before relying on estimated savings.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CBEC0F10-308E-467C-91AA-35227C4F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The act/defer calculation compares costs; it is not a real-option price or empirical proof of savings.</a:t>
            </a:r>
          </a:p>
        </p:txBody>
      </p:sp>
    </p:spTree>
    <p:extLst>
      <p:ext uri="{BB962C8B-B14F-4D97-AF65-F5344CB8AC3E}">
        <p14:creationId xmlns:p14="http://schemas.microsoft.com/office/powerpoint/2010/main" val="2075003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68C690B-3EA1-4E53-B93B-D7B8D7BC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10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F5D4B359-F259-4328-9E51-C5916F95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A broad learning archive, selectively presented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8B00FA9C-74BF-40B7-98B7-CE7022A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Condense the presentation—not the underlying options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99463A79-5578-4A81-818B-F21E6BFB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FULL FOUNDATION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72098B95-EC52-4D8A-ACE6-D351F0C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PROFESSIONAL VIEW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20362023-634F-46DB-80B9-A3CE2BA2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419 course records and 81 program records preserve financial, quantitative, product, operating and technology pathways.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F7A1045B-EFAE-454F-8C61-AFD48EFF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Select representative provider programs for the target role. Preserve official titles, completion states and links to the full record.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03822430-91A0-4AFC-A511-C1CFB8B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Three overlapping views: private capital/infrastructure; quant/risk; AI/data/product.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8D8A54B5-4D56-4D76-974F-D7966471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Counts overlap: not 500 independent credentials. Exam preparation is not exam certification; completion is not independent execution.</a:t>
            </a:r>
          </a:p>
        </p:txBody>
      </p:sp>
    </p:spTree>
    <p:extLst>
      <p:ext uri="{BB962C8B-B14F-4D97-AF65-F5344CB8AC3E}">
        <p14:creationId xmlns:p14="http://schemas.microsoft.com/office/powerpoint/2010/main" val="1011558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62BD3CD-EAB0-48E0-AD24-D5CF277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11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25970069-8E2F-4798-90A6-CB8E8BED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Conditional models are tools for adaptation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36E0A-8B79-4973-9143-5E3CD1546F96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72771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element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Management use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42B3B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Decision and alternatives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Define what changes, who decides and the simpler baseline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Assumptions and constraints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Make financing, capacity, data and operating limits explicit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Scenario and negative 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Identify where the recommendation reverses or becomes infeasible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771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Evidence and revision trigger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3B"/>
                          </a:solidFill>
                          <a:latin typeface="Arial"/>
                          <a:ea typeface="Arial"/>
                          <a:cs typeface="Arial"/>
                        </a:rPr>
                        <a:t>Retain provenance; review after a new source, result or requirement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E0A6A9E3-260B-49B9-B2BF-FD22BE6B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A conditional result is not an observed outcome. Documentation, checking, implementation and operation remain distinct.</a:t>
            </a:r>
          </a:p>
        </p:txBody>
      </p:sp>
    </p:spTree>
    <p:extLst>
      <p:ext uri="{BB962C8B-B14F-4D97-AF65-F5344CB8AC3E}">
        <p14:creationId xmlns:p14="http://schemas.microsoft.com/office/powerpoint/2010/main" val="731237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25F18904-3C7B-4AC6-817D-9A8AE0FA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IGOR GRYBEK  /  PRIVATE PORTFOLIO                                      12</a:t>
            </a:r>
          </a:p>
        </p:txBody>
      </p:sp>
      <p:sp>
        <p:nvSpPr>
          <p:cNvPr id="2" name="primary-heading">
            <a:extLst xmlns:a="http://schemas.openxmlformats.org/drawingml/2006/main">
              <a:ext uri="{FF2B5EF4-FFF2-40B4-BE49-F238E27FC236}">
                <a16:creationId xmlns:a16="http://schemas.microsoft.com/office/drawing/2014/main" id="{4DDFC0C6-252B-4757-B2FC-E9707EFE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B3B"/>
                </a:solidFill>
                <a:latin typeface="Arial"/>
                <a:ea typeface="Arial"/>
                <a:cs typeface="Arial"/>
              </a:rPr>
              <a:t>From a new opportunity to a decision package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B394914-A684-4F20-AEF8-1850ACC1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696D"/>
                </a:solidFill>
                <a:latin typeface="Arial"/>
                <a:ea typeface="Arial"/>
                <a:cs typeface="Arial"/>
              </a:rPr>
              <a:t>One foundation, adaptable to the next role or initiative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37692BB7-60AD-41CB-B012-7F65133C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A ROLE OR MANDATE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E2E34384-06AA-497C-91F2-2561B16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516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369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96D"/>
                </a:solidFill>
                <a:latin typeface="Arial"/>
                <a:ea typeface="Arial"/>
                <a:cs typeface="Arial"/>
              </a:rPr>
              <a:t>A BUSINESS PROPOSAL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5CF6208F-E2B6-49AA-AB13-1025350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Map requirements to experience, qualifications and portfolio evidence. Select a coherent narrative and identify the specific gaps.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75902A02-6CBF-4AAD-A958-BB34E642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5162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Compare alternatives, operating assumptions, economics and risks. Define the smallest test that can change the decision.</a:t>
            </a:r>
          </a:p>
        </p:txBody>
      </p:sp>
      <p:sp>
        <p:nvSpPr>
          <p:cNvPr id="8" name="next-decision">
            <a:extLst xmlns:a="http://schemas.openxmlformats.org/drawingml/2006/main">
              <a:ext uri="{FF2B5EF4-FFF2-40B4-BE49-F238E27FC236}">
                <a16:creationId xmlns:a16="http://schemas.microsoft.com/office/drawing/2014/main" id="{CA59B86B-25B2-4339-AC91-CC7AE7A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B3B"/>
                </a:solidFill>
                <a:latin typeface="Arial"/>
                <a:ea typeface="Arial"/>
                <a:cs typeface="Arial"/>
              </a:rPr>
              <a:t>Start with a supplied brief, decision context and constraints. Preserve the full profile while tailoring the view.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1112D1C4-8964-4BA8-B6F0-21B96AD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2566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663"/>
                </a:solidFill>
                <a:latin typeface="Arial"/>
                <a:ea typeface="Arial"/>
                <a:cs typeface="Arial"/>
              </a:rPr>
              <a:t>Private drafts only. Missing inputs remain explicit; publication, applications and capital commitments require separate decisions.</a:t>
            </a:r>
          </a:p>
        </p:txBody>
      </p:sp>
    </p:spTree>
    <p:extLst>
      <p:ext uri="{BB962C8B-B14F-4D97-AF65-F5344CB8AC3E}">
        <p14:creationId xmlns:p14="http://schemas.microsoft.com/office/powerpoint/2010/main" val="766118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2026-10-26T15:16:01.7710000Z</dcterms:created>
  <dcterms:modified xsi:type="dcterms:W3CDTF">2026-10-26T15:16:01.7710000Z</dcterms:modified>
</coreProperties>
</file>